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05F"/>
                </a:solidFill>
              </a:defRPr>
            </a:pPr>
            <a:r>
              <a:t>TechStock — qualité, catalogue et stock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/>
            </a:pPr>
            <a:r>
              <a:t>Fiabiliser ERP/web et identifier les références à surveiller.</a:t>
            </a:r>
          </a:p>
          <a:p>
            <a:pPr>
              <a:spcAft>
                <a:spcPts val="1800"/>
              </a:spcAft>
              <a:defRPr sz="2000"/>
            </a:pPr>
            <a:r>
              <a:t>Analyse reproductible dans Jupyter ; présentation modifiable.</a:t>
            </a:r>
          </a:p>
          <a:p>
            <a:pPr>
              <a:spcAft>
                <a:spcPts val="1800"/>
              </a:spcAft>
              <a:defRPr sz="2000"/>
            </a:pPr>
            <a:r>
              <a:t>Données fictives : aucune mission réelle ni effet causal démontré.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Simulation pédagogique • données synthétiques •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05F"/>
                </a:solidFill>
              </a:defRPr>
            </a:pPr>
            <a:r>
              <a:t>Question et méthode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/>
            </a:pPr>
            <a:r>
              <a:t>Fiabiliser ERP/web et identifier les références à surveiller.</a:t>
            </a:r>
          </a:p>
          <a:p>
            <a:pPr>
              <a:spcAft>
                <a:spcPts val="1800"/>
              </a:spcAft>
              <a:defRPr sz="2000"/>
            </a:pPr>
            <a:r>
              <a:t>Contrôler les clés, les doublons et les valeurs invalides avant les agrégations.</a:t>
            </a:r>
          </a:p>
          <a:p>
            <a:pPr>
              <a:spcAft>
                <a:spcPts val="1800"/>
              </a:spcAft>
              <a:defRPr sz="2000"/>
            </a:pPr>
            <a:r>
              <a:t>Lire les unités et les hypothèses du notebook avant de comparer les résultats.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Simulation pédagogique • données synthétiques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05F"/>
                </a:solidFill>
              </a:defRPr>
            </a:pPr>
            <a:r>
              <a:t>Qualité des 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/>
            </a:pPr>
            <a:r>
              <a:t>{'table': 'ventes', 'brut': 120120, 'doublons': 120, 'rejets': 2920, 'propre': 117080}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Simulation pédagogique • données synthétiques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05F"/>
                </a:solidFill>
              </a:defRPr>
            </a:pPr>
            <a:r>
              <a:t>Indicateurs recalculés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/>
            </a:pPr>
            <a:r>
              <a:t>lignes valides : 117080</a:t>
            </a:r>
          </a:p>
          <a:p>
            <a:pPr>
              <a:spcAft>
                <a:spcPts val="1800"/>
              </a:spcAft>
              <a:defRPr sz="2000"/>
            </a:pPr>
            <a:r>
              <a:t>liaisons ambigues : 40</a:t>
            </a:r>
          </a:p>
          <a:p>
            <a:pPr>
              <a:spcAft>
                <a:spcPts val="1800"/>
              </a:spcAft>
              <a:defRPr sz="2000"/>
            </a:pPr>
            <a:r>
              <a:t>ca net : 83,890,298.0600</a:t>
            </a:r>
          </a:p>
          <a:p>
            <a:pPr>
              <a:spcAft>
                <a:spcPts val="1800"/>
              </a:spcAft>
              <a:defRPr sz="2000"/>
            </a:pPr>
            <a:r>
              <a:t>marge commerciale : 61,175,149.9400</a:t>
            </a:r>
          </a:p>
          <a:p>
            <a:pPr>
              <a:spcAft>
                <a:spcPts val="1800"/>
              </a:spcAft>
              <a:defRPr sz="2000"/>
            </a:pPr>
            <a:r>
              <a:t>prix atypiques : 6</a:t>
            </a:r>
          </a:p>
          <a:p>
            <a:pPr>
              <a:spcAft>
                <a:spcPts val="1800"/>
              </a:spcAft>
              <a:defRPr sz="2000"/>
            </a:pPr>
            <a:r>
              <a:t>produits classe A : 1351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Simulation pédagogique • données synthétiques •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05F"/>
                </a:solidFill>
              </a:defRPr>
            </a:pPr>
            <a:r>
              <a:t>Résultats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/>
            </a:pPr>
            <a:r>
              <a:t>40 liaisons ambiguës exclues avant jointure pour éviter une multiplication des ventes.</a:t>
            </a:r>
          </a:p>
          <a:p>
            <a:pPr>
              <a:spcAft>
                <a:spcPts val="1800"/>
              </a:spcAft>
              <a:defRPr sz="2000"/>
            </a:pPr>
            <a:r>
              <a:t>6 prix atypiques détectés sur log-prix par catégorie, signalés et conservés.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Simulation pédagogique • données synthétiques •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05F"/>
                </a:solidFill>
              </a:defRPr>
            </a:pPr>
            <a:r>
              <a:t>Distribution prix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Simulation pédagogique • données synthétiques • 6</a:t>
            </a:r>
          </a:p>
        </p:txBody>
      </p:sp>
      <p:pic>
        <p:nvPicPr>
          <p:cNvPr id="5" name="Picture 4" descr="distribution_p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25880"/>
            <a:ext cx="1033272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05F"/>
                </a:solidFill>
              </a:defRPr>
            </a:pPr>
            <a:r>
              <a:t>Pareto 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Simulation pédagogique • données synthétiques • 7</a:t>
            </a:r>
          </a:p>
        </p:txBody>
      </p:sp>
      <p:pic>
        <p:nvPicPr>
          <p:cNvPr id="5" name="Picture 4" descr="pareto_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25880"/>
            <a:ext cx="1033272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05F"/>
                </a:solidFill>
              </a:defRPr>
            </a:pPr>
            <a:r>
              <a:t>Ca et marge mensuels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Simulation pédagogique • données synthétiques • 8</a:t>
            </a:r>
          </a:p>
        </p:txBody>
      </p:sp>
      <p:pic>
        <p:nvPicPr>
          <p:cNvPr id="5" name="Picture 4" descr="ca_et_marge_mensu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25880"/>
            <a:ext cx="1033272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05F"/>
                </a:solidFill>
              </a:defRPr>
            </a:pPr>
            <a:r>
              <a:t>4. Réconcilier les identifiants avant les montants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/>
            </a:pPr>
            <a:r>
              <a:t>L’ERP décrit les produits et leurs prix/coûts ; la table de liaison associe produit_id à un SKU web. Avant de joindre les ventes, les SKU présents sur plusieurs produits sont identifiés et isolés. Les attribuer au premier produit rencontré serait une réparation arbitraire.</a:t>
            </a:r>
          </a:p>
          <a:p>
            <a:pPr>
              <a:spcAft>
                <a:spcPts val="1800"/>
              </a:spcAft>
              <a:defRPr sz="2000"/>
            </a:pPr>
            <a:r>
              <a:t>Le contrôle trouve 40 lignes de liaison ambiguës, correspondant à 20 SKU distincts. Leur exclusion peut aussi retirer des ventes par ailleurs valides. Le CA publié est donc celui du sous-périmètre rapproché, pas le CA exhaustif du commerce.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Simulation pédagogique • données synthétiques •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05F"/>
                </a:solidFill>
              </a:defRPr>
            </a:pPr>
            <a:r>
              <a:t>5. Séparer contribution, rentabilité et volume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/>
            </a:pPr>
            <a:r>
              <a:t>Le taux de marque global est 72,92 %. Il est calculé comme somme des marges / somme des CA. Une moyenne simple des taux de produits surpondérerait les petites références et pourrait donner une lecture différente sans changement économique.</a:t>
            </a:r>
          </a:p>
          <a:p>
            <a:pPr>
              <a:spcAft>
                <a:spcPts val="1800"/>
              </a:spcAft>
              <a:defRPr sz="2000"/>
            </a:pPr>
            <a:r>
              <a:t>Les catégories sont comparées sur quatre axes : recettes, marge, unités et nombre de références vendues. La catégorie qui réalise le plus de CA n’est pas nécessairement celle qui apporte la meilleure marge par euro vendu ou par référence.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Simulation pédagogique • données synthétiques •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05F"/>
                </a:solidFill>
              </a:defRPr>
            </a:pPr>
            <a:r>
              <a:t>6. Tester la concentration et construire les classes ABC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/>
            </a:pPr>
            <a:r>
              <a:t>Les 20 % de références les mieux classées représentent 45,3 % du CA. Une règle de Pareto est ici une hypothèse de concentration à vérifier, pas une propriété automatique d’un catalogue.</a:t>
            </a:r>
          </a:p>
          <a:p>
            <a:pPr>
              <a:spcAft>
                <a:spcPts val="1800"/>
              </a:spcAft>
              <a:defRPr sz="2000"/>
            </a:pPr>
            <a:r>
              <a:t>Les produits sont ordonnés par CA décroissant puis cumulés. Le code affecte A aux lignes dont la part cumulée est &lt;= 80 %, B jusqu’à 95 %, C au-delà. La référence qui fait franchir la frontière appartient donc à la classe suivante ; cette convention est explicite et peut faire terminer A légèrement avant 80 %.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Simulation pédagogique • données synthétiques •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05F"/>
                </a:solidFill>
              </a:defRPr>
            </a:pPr>
            <a:r>
              <a:t>7. Investiguer les prix sans supprimer des produits légitimes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/>
            </a:pPr>
            <a:r>
              <a:t>Le détecteur robuste calcule le log-prix, sa médiane par catégorie, puis le score 0,67449 × écart à la médiane / MAD. Le seuil absolu 3,5 signale 6 références. Il ne prouve pas qu’un prix est faux.</a:t>
            </a:r>
          </a:p>
          <a:p>
            <a:pPr>
              <a:spcAft>
                <a:spcPts val="1800"/>
              </a:spcAft>
              <a:defRPr sz="2000"/>
            </a:pPr>
            <a:r>
              <a:t>Un second critère basé sur les quartiles des prix non transformés signale 140 références ; 5 apparaissent dans les deux listes. Les ensembles diffèrent car la transformation logarithmique, la dispersion et la forme des distributions ne sont pas identiques.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Simulation pédagogique • données synthétiques •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05F"/>
                </a:solidFill>
              </a:defRPr>
            </a:pPr>
            <a:r>
              <a:t>8. Stock : transformer un proxy en question de collecte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/>
            </a:pPr>
            <a:r>
              <a:t>La couverture simulée est stock initial / (unités vendues sur 36 mois / 36). 2368 références ont une couverture supérieure à douze mois. Le stock valorisé au coût sur le périmètre vendu vaut 41 410 237 EUR.</a:t>
            </a:r>
          </a:p>
          <a:p>
            <a:pPr>
              <a:spcAft>
                <a:spcPts val="1800"/>
              </a:spcAft>
              <a:defRPr sz="2000"/>
            </a:pPr>
            <a:r>
              <a:t>Ces valeurs supposent un rythme moyen constant et utilisent le stock initial comme s’il était disponible à la date d’analyse. Elles ne prennent pas en compte réceptions, ruptures, obsolescence ou saisonnalité. Elles sont utiles pour définir une investigation, pas pour passer automatiquement une commande.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Simulation pédagogique • données synthétiques •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05F"/>
                </a:solidFill>
              </a:defRPr>
            </a:pPr>
            <a:r>
              <a:t>Actions proposées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/>
            </a:pPr>
            <a:r>
              <a:t>Résoudre les SKU ambigus avec le référentiel métier.</a:t>
            </a:r>
          </a:p>
          <a:p>
            <a:pPr>
              <a:spcAft>
                <a:spcPts val="1800"/>
              </a:spcAft>
              <a:defRPr sz="2000"/>
            </a:pPr>
            <a:r>
              <a:t>Prioriser les références A et examiner les couvertures longues.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Simulation pédagogique • données synthétiques •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05F"/>
                </a:solidFill>
              </a:defRPr>
            </a:pPr>
            <a:r>
              <a:t>Limites et prochaines étapes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/>
            </a:pPr>
            <a:r>
              <a:t>Prix extrêmes potentiellement légitimes : pas de suppression automatique.</a:t>
            </a:r>
          </a:p>
          <a:p>
            <a:pPr>
              <a:spcAft>
                <a:spcPts val="1800"/>
              </a:spcAft>
              <a:defRPr sz="2000"/>
            </a:pPr>
            <a:r>
              <a:t>Stock initial comme proxy : rotation comptable impossible sans stock moyen et réceptions.</a:t>
            </a:r>
          </a:p>
          <a:p>
            <a:pPr>
              <a:spcAft>
                <a:spcPts val="1800"/>
              </a:spcAft>
              <a:defRPr sz="2000"/>
            </a:pPr>
            <a:r>
              <a:t>Données fictives, marge hors frais fixes et logistique.</a:t>
            </a:r>
          </a:p>
          <a:p>
            <a:pPr>
              <a:spcAft>
                <a:spcPts val="1800"/>
              </a:spcAft>
              <a:defRPr sz="2000"/>
            </a:pPr>
            <a:r>
              <a:t>Adapter les hypothèses et valider sur des données réelles avant toute décision.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Simulation pédagogique • données synthétiques •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TechStock</dc:title>
  <dc:subject>Analyse de données — projet personnel sur données synthétiques</dc:subject>
  <dc:creator>Imad Kaanane</dc:creator>
  <cp:keywords/>
  <dc:description>generated using python-pptx</dc:description>
  <cp:lastModifiedBy>Imad Kaanane</cp:lastModifiedBy>
  <cp:revision>1</cp:revision>
  <dcterms:created xsi:type="dcterms:W3CDTF">2013-01-27T09:14:16Z</dcterms:created>
  <dcterms:modified xsi:type="dcterms:W3CDTF">2013-01-27T09:15:58Z</dcterms:modified>
  <cp:category/>
</cp:coreProperties>
</file>